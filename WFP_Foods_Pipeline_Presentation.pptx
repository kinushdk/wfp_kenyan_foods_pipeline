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3" d="100"/>
          <a:sy n="73" d="100"/>
        </p:scale>
        <p:origin x="774" y="6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2A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320040" y="0"/>
            <a:ext cx="11868912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914400" y="914400"/>
            <a:ext cx="2011680" cy="64008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60120" y="960120"/>
            <a:ext cx="1920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62A40"/>
                </a:solidFill>
              </a:rPr>
              <a:t>WFP KENYA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783080"/>
            <a:ext cx="8686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200" b="1" i="0">
                <a:solidFill>
                  <a:srgbClr val="FFFFFF"/>
                </a:solidFill>
              </a:rPr>
              <a:t>Food Prices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743200"/>
            <a:ext cx="8686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0" i="0">
                <a:solidFill>
                  <a:srgbClr val="90E0EF"/>
                </a:solidFill>
              </a:rPr>
              <a:t>Data Engineering Pipeline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3611880"/>
            <a:ext cx="7315200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14400" y="3749039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0C4D8"/>
                </a:solidFill>
              </a:rPr>
              <a:t>End-to-end pipeline: extraction, transformation, orchestration &amp; visualization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914400" y="5303520"/>
            <a:ext cx="1645920" cy="411480"/>
          </a:xfrm>
          <a:prstGeom prst="rect">
            <a:avLst/>
          </a:prstGeom>
          <a:solidFill>
            <a:srgbClr val="0A3D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14400" y="5321808"/>
            <a:ext cx="1645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B4D8"/>
                </a:solidFill>
              </a:rPr>
              <a:t>AIRFLOW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926080" y="5303520"/>
            <a:ext cx="1645920" cy="411480"/>
          </a:xfrm>
          <a:prstGeom prst="rect">
            <a:avLst/>
          </a:prstGeom>
          <a:solidFill>
            <a:srgbClr val="0A3D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2926080" y="5321808"/>
            <a:ext cx="1645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B4D8"/>
                </a:solidFill>
              </a:rPr>
              <a:t>dbt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0" y="5303520"/>
            <a:ext cx="1645920" cy="411480"/>
          </a:xfrm>
          <a:prstGeom prst="rect">
            <a:avLst/>
          </a:prstGeom>
          <a:solidFill>
            <a:srgbClr val="0A3D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572000" y="5321808"/>
            <a:ext cx="1645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B4D8"/>
                </a:solidFill>
              </a:rPr>
              <a:t>POSTGRESQL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858000" y="5303520"/>
            <a:ext cx="1645920" cy="411480"/>
          </a:xfrm>
          <a:prstGeom prst="rect">
            <a:avLst/>
          </a:prstGeom>
          <a:solidFill>
            <a:srgbClr val="0A3D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858000" y="5321808"/>
            <a:ext cx="1645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B4D8"/>
                </a:solidFill>
              </a:rPr>
              <a:t>METABASE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869680" y="5303520"/>
            <a:ext cx="1645920" cy="411480"/>
          </a:xfrm>
          <a:prstGeom prst="rect">
            <a:avLst/>
          </a:prstGeom>
          <a:solidFill>
            <a:srgbClr val="0A3D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869680" y="5321808"/>
            <a:ext cx="1645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B4D8"/>
                </a:solidFill>
              </a:rPr>
              <a:t>GRAFANA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59436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C4D8"/>
                </a:solidFill>
              </a:rPr>
              <a:t>📊  17,632 records  |  Kenya  |  2006–Present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2A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320040" y="0"/>
            <a:ext cx="11868912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B4D8"/>
                </a:solidFill>
              </a:rPr>
              <a:t>PROJECT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5720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What &amp; Why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280160"/>
            <a:ext cx="5303520" cy="4389120"/>
          </a:xfrm>
          <a:prstGeom prst="rect">
            <a:avLst/>
          </a:prstGeom>
          <a:solidFill>
            <a:srgbClr val="0A3D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77240" y="141732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B4D8"/>
                </a:solidFill>
              </a:rPr>
              <a:t>The Project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874519"/>
            <a:ext cx="48463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0F4F8"/>
                </a:solidFill>
              </a:rPr>
              <a:t>This pipeline ingests WFP (World Food Programme)</a:t>
            </a:r>
          </a:p>
          <a:p>
            <a:pPr algn="l"/>
            <a:r>
              <a:rPr sz="1200" b="0">
                <a:solidFill>
                  <a:srgbClr val="F0F4F8"/>
                </a:solidFill>
              </a:rPr>
              <a:t>food market price data across Kenya, cleans and</a:t>
            </a:r>
          </a:p>
          <a:p>
            <a:pPr algn="l"/>
            <a:r>
              <a:rPr sz="1200" b="0">
                <a:solidFill>
                  <a:srgbClr val="F0F4F8"/>
                </a:solidFill>
              </a:rPr>
              <a:t>validates it, loads it into PostgreSQL, transforms</a:t>
            </a:r>
          </a:p>
          <a:p>
            <a:pPr algn="l"/>
            <a:r>
              <a:rPr sz="1200" b="0">
                <a:solidFill>
                  <a:srgbClr val="F0F4F8"/>
                </a:solidFill>
              </a:rPr>
              <a:t>it using dbt, and visualizes insights through</a:t>
            </a:r>
          </a:p>
          <a:p>
            <a:pPr algn="l"/>
            <a:r>
              <a:rPr sz="1200" b="0">
                <a:solidFill>
                  <a:srgbClr val="F0F4F8"/>
                </a:solidFill>
              </a:rPr>
              <a:t>Metabase and Grafana dashboards.</a:t>
            </a:r>
          </a:p>
          <a:p>
            <a:pPr algn="l"/>
            <a:endParaRPr sz="1200" b="0">
              <a:solidFill>
                <a:srgbClr val="F0F4F8"/>
              </a:solidFill>
            </a:endParaRPr>
          </a:p>
          <a:p>
            <a:pPr algn="l"/>
            <a:r>
              <a:rPr sz="1200" b="0">
                <a:solidFill>
                  <a:srgbClr val="F0F4F8"/>
                </a:solidFill>
              </a:rPr>
              <a:t>Built to answer critical food security questions:</a:t>
            </a:r>
          </a:p>
          <a:p>
            <a:pPr algn="l"/>
            <a:r>
              <a:rPr sz="1200" b="0">
                <a:solidFill>
                  <a:srgbClr val="F0F4F8"/>
                </a:solidFill>
              </a:rPr>
              <a:t>→  How are food prices trending over time?</a:t>
            </a:r>
          </a:p>
          <a:p>
            <a:pPr algn="l"/>
            <a:r>
              <a:rPr sz="1200" b="0">
                <a:solidFill>
                  <a:srgbClr val="F0F4F8"/>
                </a:solidFill>
              </a:rPr>
              <a:t>→  Which counties face the highest prices?</a:t>
            </a:r>
          </a:p>
          <a:p>
            <a:pPr algn="l"/>
            <a:r>
              <a:rPr sz="1200" b="0">
                <a:solidFill>
                  <a:srgbClr val="F0F4F8"/>
                </a:solidFill>
              </a:rPr>
              <a:t>→  Which commodities are most volatile?</a:t>
            </a:r>
          </a:p>
          <a:p>
            <a:pPr algn="l"/>
            <a:r>
              <a:rPr sz="1200" b="0">
                <a:solidFill>
                  <a:srgbClr val="F0F4F8"/>
                </a:solidFill>
              </a:rPr>
              <a:t>→  Where are commodities sold across markets?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0" y="1280160"/>
            <a:ext cx="5394960" cy="4389120"/>
          </a:xfrm>
          <a:prstGeom prst="rect">
            <a:avLst/>
          </a:prstGeom>
          <a:solidFill>
            <a:srgbClr val="0A3D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46520" y="141732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B4D8"/>
                </a:solidFill>
              </a:rPr>
              <a:t>The Dataset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46520" y="1920240"/>
            <a:ext cx="4754880" cy="640080"/>
          </a:xfrm>
          <a:prstGeom prst="rect">
            <a:avLst/>
          </a:prstGeom>
          <a:solidFill>
            <a:srgbClr val="073B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537960" y="1956816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0B4D8"/>
                </a:solidFill>
              </a:rPr>
              <a:t>17,632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80" y="2029968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C4D8"/>
                </a:solidFill>
              </a:rPr>
              <a:t>Total Records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46520" y="2670048"/>
            <a:ext cx="4754880" cy="640080"/>
          </a:xfrm>
          <a:prstGeom prst="rect">
            <a:avLst/>
          </a:prstGeom>
          <a:solidFill>
            <a:srgbClr val="073B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537960" y="2706624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0B4D8"/>
                </a:solidFill>
              </a:rPr>
              <a:t>2006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80" y="2779776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C4D8"/>
                </a:solidFill>
              </a:rPr>
              <a:t>Data From Year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46520" y="3419856"/>
            <a:ext cx="4754880" cy="640080"/>
          </a:xfrm>
          <a:prstGeom prst="rect">
            <a:avLst/>
          </a:prstGeom>
          <a:solidFill>
            <a:srgbClr val="073B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537960" y="3456432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0B4D8"/>
                </a:solidFill>
              </a:rPr>
              <a:t>Present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12480" y="3529584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C4D8"/>
                </a:solidFill>
              </a:rPr>
              <a:t>Data To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46520" y="4169664"/>
            <a:ext cx="4754880" cy="640080"/>
          </a:xfrm>
          <a:prstGeom prst="rect">
            <a:avLst/>
          </a:prstGeom>
          <a:solidFill>
            <a:srgbClr val="073B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537960" y="420624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0B4D8"/>
                </a:solidFill>
              </a:rPr>
              <a:t>16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12480" y="4279392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C4D8"/>
                </a:solidFill>
              </a:rPr>
              <a:t>Columns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46520" y="4919472"/>
            <a:ext cx="4754880" cy="640080"/>
          </a:xfrm>
          <a:prstGeom prst="rect">
            <a:avLst/>
          </a:prstGeom>
          <a:solidFill>
            <a:srgbClr val="073B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537960" y="4956048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0B4D8"/>
                </a:solidFill>
              </a:rPr>
              <a:t>Kenya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12480" y="502920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C4D8"/>
                </a:solidFill>
              </a:rPr>
              <a:t>Country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585216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C4D8"/>
                </a:solidFill>
              </a:rPr>
              <a:t>Key Commodities: Maize · Beans · Bread · Sugar · Rice · Milk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2A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320040" y="0"/>
            <a:ext cx="11868912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B4D8"/>
                </a:solidFill>
              </a:rPr>
              <a:t>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5720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End-to-End Data Flow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371600"/>
            <a:ext cx="1828800" cy="2926080"/>
          </a:xfrm>
          <a:prstGeom prst="rect">
            <a:avLst/>
          </a:prstGeom>
          <a:solidFill>
            <a:srgbClr val="0A3D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02920" y="1371600"/>
            <a:ext cx="1828800" cy="10972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02920" y="1508760"/>
            <a:ext cx="1828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FFFFFF"/>
                </a:solidFill>
              </a:rPr>
              <a:t>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01168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B4D8"/>
                </a:solidFill>
              </a:rPr>
              <a:t>SOURCE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423160"/>
            <a:ext cx="1645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wfp_food_prices
_ken.csv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3154680"/>
            <a:ext cx="1645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B0C4D8"/>
                </a:solidFill>
              </a:rPr>
              <a:t>17,632 rows
CSV format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188720" y="3931920"/>
            <a:ext cx="457200" cy="32004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188720" y="393192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62A40"/>
                </a:solidFill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350008" y="2606040"/>
            <a:ext cx="320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00B4D8"/>
                </a:solidFill>
              </a:rPr>
              <a:t>▶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514600" y="1371600"/>
            <a:ext cx="1828800" cy="2926080"/>
          </a:xfrm>
          <a:prstGeom prst="rect">
            <a:avLst/>
          </a:prstGeom>
          <a:solidFill>
            <a:srgbClr val="0A3D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2514600" y="1371600"/>
            <a:ext cx="1828800" cy="109728"/>
          </a:xfrm>
          <a:prstGeom prst="rect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2514600" y="1508760"/>
            <a:ext cx="1828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FFFFFF"/>
                </a:solidFill>
              </a:rPr>
              <a:t>⚙️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514600" y="201168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4A261"/>
                </a:solidFill>
              </a:rPr>
              <a:t>AIRFLOW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606040" y="2423160"/>
            <a:ext cx="1645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wfp_food_pipeline
_dag.py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606040" y="3154680"/>
            <a:ext cx="1645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B0C4D8"/>
                </a:solidFill>
              </a:rPr>
              <a:t>Extract → Transform
→ Load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200400" y="3931920"/>
            <a:ext cx="457200" cy="320040"/>
          </a:xfrm>
          <a:prstGeom prst="rect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3200400" y="393192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62A40"/>
                </a:solidFill>
              </a:rPr>
              <a:t>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361688" y="2606040"/>
            <a:ext cx="320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00B4D8"/>
                </a:solidFill>
              </a:rPr>
              <a:t>▶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26280" y="1371600"/>
            <a:ext cx="1828800" cy="2926080"/>
          </a:xfrm>
          <a:prstGeom prst="rect">
            <a:avLst/>
          </a:prstGeom>
          <a:solidFill>
            <a:srgbClr val="0A3D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4526280" y="1371600"/>
            <a:ext cx="1828800" cy="109728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526280" y="1508760"/>
            <a:ext cx="1828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FFFFFF"/>
                </a:solidFill>
              </a:rPr>
              <a:t>🗄️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26280" y="201168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2C39A"/>
                </a:solidFill>
              </a:rPr>
              <a:t>POSTGRESQL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617720" y="2423160"/>
            <a:ext cx="1645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wfp_foods DB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617720" y="3154680"/>
            <a:ext cx="1645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B0C4D8"/>
                </a:solidFill>
              </a:rPr>
              <a:t>wfp_food_prices
_clean table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212080" y="3931920"/>
            <a:ext cx="457200" cy="32004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5212080" y="393192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62A40"/>
                </a:solidFill>
              </a:rPr>
              <a:t>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73368" y="2606040"/>
            <a:ext cx="320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00B4D8"/>
                </a:solidFill>
              </a:rPr>
              <a:t>▶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537960" y="1371600"/>
            <a:ext cx="1828800" cy="2926080"/>
          </a:xfrm>
          <a:prstGeom prst="rect">
            <a:avLst/>
          </a:prstGeom>
          <a:solidFill>
            <a:srgbClr val="0A3D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6537960" y="1371600"/>
            <a:ext cx="1828800" cy="109728"/>
          </a:xfrm>
          <a:prstGeom prst="rect">
            <a:avLst/>
          </a:prstGeom>
          <a:solidFill>
            <a:srgbClr val="90E0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6537960" y="1508760"/>
            <a:ext cx="1828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FFFFFF"/>
                </a:solidFill>
              </a:rPr>
              <a:t>🔧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37960" y="201168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90E0EF"/>
                </a:solidFill>
              </a:rPr>
              <a:t>dbt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629400" y="2423160"/>
            <a:ext cx="1645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Models &amp;
Transformations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629400" y="3154680"/>
            <a:ext cx="1645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B0C4D8"/>
                </a:solidFill>
              </a:rPr>
              <a:t>5 analytics
models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223760" y="3931920"/>
            <a:ext cx="457200" cy="320040"/>
          </a:xfrm>
          <a:prstGeom prst="rect">
            <a:avLst/>
          </a:prstGeom>
          <a:solidFill>
            <a:srgbClr val="90E0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7223760" y="393192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62A40"/>
                </a:solidFill>
              </a:rPr>
              <a:t>4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385048" y="2606040"/>
            <a:ext cx="320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00B4D8"/>
                </a:solidFill>
              </a:rPr>
              <a:t>▶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549640" y="1371600"/>
            <a:ext cx="1828800" cy="2926080"/>
          </a:xfrm>
          <a:prstGeom prst="rect">
            <a:avLst/>
          </a:prstGeom>
          <a:solidFill>
            <a:srgbClr val="0A3D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ectangle 42"/>
          <p:cNvSpPr/>
          <p:nvPr/>
        </p:nvSpPr>
        <p:spPr>
          <a:xfrm>
            <a:off x="8549640" y="1371600"/>
            <a:ext cx="1828800" cy="109728"/>
          </a:xfrm>
          <a:prstGeom prst="rect">
            <a:avLst/>
          </a:prstGeom>
          <a:solidFill>
            <a:srgbClr val="F72B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8549640" y="1508760"/>
            <a:ext cx="1828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FFFFFF"/>
                </a:solidFill>
              </a:rPr>
              <a:t>📊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549640" y="201168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72B85"/>
                </a:solidFill>
              </a:rPr>
              <a:t>DASHBOARDS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641080" y="2423160"/>
            <a:ext cx="1645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Metabase
Grafana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641080" y="3154680"/>
            <a:ext cx="1645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B0C4D8"/>
                </a:solidFill>
              </a:rPr>
              <a:t>Visualizations
&amp; insights</a:t>
            </a:r>
          </a:p>
        </p:txBody>
      </p:sp>
      <p:sp>
        <p:nvSpPr>
          <p:cNvPr id="48" name="Rectangle 47"/>
          <p:cNvSpPr/>
          <p:nvPr/>
        </p:nvSpPr>
        <p:spPr>
          <a:xfrm>
            <a:off x="9235440" y="3931920"/>
            <a:ext cx="457200" cy="320040"/>
          </a:xfrm>
          <a:prstGeom prst="rect">
            <a:avLst/>
          </a:prstGeom>
          <a:solidFill>
            <a:srgbClr val="F72B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9235440" y="393192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62A40"/>
                </a:solidFill>
              </a:rPr>
              <a:t>5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48640" y="457200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B0C4D8"/>
                </a:solidFill>
              </a:rPr>
              <a:t>Each step is containerised in Docker and orchestrated by Apache Airflow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2A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320040" y="0"/>
            <a:ext cx="11868912" cy="73152"/>
          </a:xfrm>
          <a:prstGeom prst="rect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4A261"/>
                </a:solidFill>
              </a:rPr>
              <a:t>EXPLORATORY NOTEBOOK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5720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wfp_clean.ipynb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0972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0C4D8"/>
                </a:solidFill>
              </a:rPr>
              <a:t>Data cleaning, validation &amp; initial PostgreSQL load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600200"/>
            <a:ext cx="5303520" cy="4572000"/>
          </a:xfrm>
          <a:prstGeom prst="rect">
            <a:avLst/>
          </a:prstGeom>
          <a:solidFill>
            <a:srgbClr val="0A3D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4A261"/>
                </a:solidFill>
              </a:rPr>
              <a:t>What It Does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2194560"/>
            <a:ext cx="292608" cy="292608"/>
          </a:xfrm>
          <a:prstGeom prst="rect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77240" y="2194560"/>
            <a:ext cx="29260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62A40"/>
                </a:solidFill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" y="2194560"/>
            <a:ext cx="1371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4A261"/>
                </a:solidFill>
              </a:rPr>
              <a:t>Load CSV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560320" y="2194560"/>
            <a:ext cx="3108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0C4D8"/>
                </a:solidFill>
              </a:rPr>
              <a:t>Reads wfp_food_prices_ken.csv using pandas with latin1 encoding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2706624"/>
            <a:ext cx="292608" cy="292608"/>
          </a:xfrm>
          <a:prstGeom prst="rect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77240" y="2706624"/>
            <a:ext cx="29260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62A40"/>
                </a:solidFill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3000" y="2706624"/>
            <a:ext cx="1371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4A261"/>
                </a:solidFill>
              </a:rPr>
              <a:t>Clean Columns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560320" y="2706624"/>
            <a:ext cx="3108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0C4D8"/>
                </a:solidFill>
              </a:rPr>
              <a:t>Converts all column names to lowercase with underscores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218688"/>
            <a:ext cx="292608" cy="292608"/>
          </a:xfrm>
          <a:prstGeom prst="rect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77240" y="3218688"/>
            <a:ext cx="29260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62A40"/>
                </a:solidFill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43000" y="3218688"/>
            <a:ext cx="1371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4A261"/>
                </a:solidFill>
              </a:rPr>
              <a:t>Remove Duplicates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560320" y="3218688"/>
            <a:ext cx="3108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0C4D8"/>
                </a:solidFill>
              </a:rPr>
              <a:t>Drops exact duplicate rows from the dataset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77240" y="3730752"/>
            <a:ext cx="292608" cy="292608"/>
          </a:xfrm>
          <a:prstGeom prst="rect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77240" y="3730752"/>
            <a:ext cx="29260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62A40"/>
                </a:solidFill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43000" y="3730752"/>
            <a:ext cx="1371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4A261"/>
                </a:solidFill>
              </a:rPr>
              <a:t>Validate Data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560320" y="3730752"/>
            <a:ext cx="3108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0C4D8"/>
                </a:solidFill>
              </a:rPr>
              <a:t>Drops rows with missing commodity or price values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77240" y="4242816"/>
            <a:ext cx="292608" cy="292608"/>
          </a:xfrm>
          <a:prstGeom prst="rect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777240" y="4242816"/>
            <a:ext cx="29260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62A40"/>
                </a:solidFill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43000" y="4242816"/>
            <a:ext cx="1371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4A261"/>
                </a:solidFill>
              </a:rPr>
              <a:t>Parse Dates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560320" y="4242816"/>
            <a:ext cx="3108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0C4D8"/>
                </a:solidFill>
              </a:rPr>
              <a:t>Converts date column to proper datetime format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77240" y="4754880"/>
            <a:ext cx="292608" cy="292608"/>
          </a:xfrm>
          <a:prstGeom prst="rect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777240" y="4754880"/>
            <a:ext cx="29260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62A40"/>
                </a:solidFill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43000" y="4754880"/>
            <a:ext cx="1371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4A261"/>
                </a:solidFill>
              </a:rPr>
              <a:t>Validate Prices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560320" y="4754880"/>
            <a:ext cx="3108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0C4D8"/>
                </a:solidFill>
              </a:rPr>
              <a:t>Ensures price column is numeric, drops invalid rows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77240" y="5266944"/>
            <a:ext cx="292608" cy="292608"/>
          </a:xfrm>
          <a:prstGeom prst="rect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777240" y="5266944"/>
            <a:ext cx="29260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62A40"/>
                </a:solidFill>
              </a:rPr>
              <a:t>7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43000" y="5266944"/>
            <a:ext cx="1371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4A261"/>
                </a:solidFill>
              </a:rPr>
              <a:t>Load to PostgreSQL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560320" y="5266944"/>
            <a:ext cx="3108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0C4D8"/>
                </a:solidFill>
              </a:rPr>
              <a:t>Pushes 17,632 clean rows into wfp_food_prices_clean table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217920" y="1600200"/>
            <a:ext cx="5394960" cy="2148840"/>
          </a:xfrm>
          <a:prstGeom prst="rect">
            <a:avLst/>
          </a:prstGeom>
          <a:solidFill>
            <a:srgbClr val="0A3D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6446520" y="173736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4A261"/>
                </a:solidFill>
              </a:rPr>
              <a:t>Output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46520" y="2194560"/>
            <a:ext cx="49377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0F4F8"/>
                </a:solidFill>
              </a:rPr>
              <a:t>✓  17,632 clean rows loaded</a:t>
            </a:r>
          </a:p>
          <a:p>
            <a:pPr algn="l"/>
            <a:r>
              <a:rPr sz="1100" b="0">
                <a:solidFill>
                  <a:srgbClr val="F0F4F8"/>
                </a:solidFill>
              </a:rPr>
              <a:t>✓  16 validated columns</a:t>
            </a:r>
          </a:p>
          <a:p>
            <a:pPr algn="l"/>
            <a:r>
              <a:rPr sz="1100" b="0">
                <a:solidFill>
                  <a:srgbClr val="F0F4F8"/>
                </a:solidFill>
              </a:rPr>
              <a:t>✓  Table: wfp_food_prices_clean</a:t>
            </a:r>
          </a:p>
          <a:p>
            <a:pPr algn="l"/>
            <a:r>
              <a:rPr sz="1100" b="0">
                <a:solidFill>
                  <a:srgbClr val="F0F4F8"/>
                </a:solidFill>
              </a:rPr>
              <a:t>✓  Database: wfp_foods (PostgreSQL)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217920" y="3931920"/>
            <a:ext cx="5394960" cy="2240280"/>
          </a:xfrm>
          <a:prstGeom prst="rect">
            <a:avLst/>
          </a:prstGeom>
          <a:solidFill>
            <a:srgbClr val="0A3D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6446520" y="406908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4A261"/>
                </a:solidFill>
              </a:rPr>
              <a:t>Libraries Used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446520" y="4526280"/>
            <a:ext cx="49377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0F4F8"/>
                </a:solidFill>
              </a:rPr>
              <a:t>  ·  pandas</a:t>
            </a:r>
          </a:p>
          <a:p>
            <a:pPr algn="l"/>
            <a:r>
              <a:rPr sz="1100" b="0">
                <a:solidFill>
                  <a:srgbClr val="F0F4F8"/>
                </a:solidFill>
              </a:rPr>
              <a:t>  ·  numpy</a:t>
            </a:r>
          </a:p>
          <a:p>
            <a:pPr algn="l"/>
            <a:r>
              <a:rPr sz="1100" b="0">
                <a:solidFill>
                  <a:srgbClr val="F0F4F8"/>
                </a:solidFill>
              </a:rPr>
              <a:t>  ·  sqlalchemy</a:t>
            </a:r>
          </a:p>
          <a:p>
            <a:pPr algn="l"/>
            <a:r>
              <a:rPr sz="1100" b="0">
                <a:solidFill>
                  <a:srgbClr val="F0F4F8"/>
                </a:solidFill>
              </a:rPr>
              <a:t>  ·  psycopg2</a:t>
            </a:r>
          </a:p>
          <a:p>
            <a:pPr algn="l"/>
            <a:r>
              <a:rPr sz="1100" b="0">
                <a:solidFill>
                  <a:srgbClr val="F0F4F8"/>
                </a:solidFill>
              </a:rPr>
              <a:t>  ·  matplotlib</a:t>
            </a:r>
          </a:p>
          <a:p>
            <a:pPr algn="l"/>
            <a:r>
              <a:rPr sz="1100" b="0">
                <a:solidFill>
                  <a:srgbClr val="F0F4F8"/>
                </a:solidFill>
              </a:rPr>
              <a:t>  ·  datetime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2A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320040" y="0"/>
            <a:ext cx="11868912" cy="73152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2C39A"/>
                </a:solidFill>
              </a:rPr>
              <a:t>PIPELINE ORCHESTRATION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5720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wfp_food_pipeline_dag.py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0972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0C4D8"/>
                </a:solidFill>
              </a:rPr>
              <a:t>Apache Airflow 3.x  |  CeleryExecutor  |  Daily Schedule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600200"/>
            <a:ext cx="3291840" cy="3931920"/>
          </a:xfrm>
          <a:prstGeom prst="rect">
            <a:avLst/>
          </a:prstGeom>
          <a:solidFill>
            <a:srgbClr val="0A3D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48640" y="1600200"/>
            <a:ext cx="3291840" cy="109728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0080" y="173736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0C4D8"/>
                </a:solidFill>
              </a:rPr>
              <a:t>Task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011680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2C39A"/>
                </a:solidFill>
              </a:rPr>
              <a:t>EXTRACT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2468880"/>
            <a:ext cx="3108960" cy="320040"/>
          </a:xfrm>
          <a:prstGeom prst="rect">
            <a:avLst/>
          </a:prstGeom>
          <a:solidFill>
            <a:srgbClr val="073B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0080" y="2487168"/>
            <a:ext cx="31089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90E0EF"/>
                </a:solidFill>
              </a:rPr>
              <a:t>extract()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288036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0F4F8"/>
                </a:solidFill>
              </a:rPr>
              <a:t>→  Reads wfp_food_prices_ken.csv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3282696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0F4F8"/>
                </a:solidFill>
              </a:rPr>
              <a:t>→  from /opt/airflow/dags/data/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3685032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0F4F8"/>
                </a:solidFill>
              </a:rPr>
              <a:t>→  Pushes raw JSON to XCom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4087368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0F4F8"/>
                </a:solidFill>
              </a:rPr>
              <a:t>→  for next task to consume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886200" y="329184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02C39A"/>
                </a:solidFill>
              </a:rPr>
              <a:t>▶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343400" y="1600200"/>
            <a:ext cx="3291840" cy="3931920"/>
          </a:xfrm>
          <a:prstGeom prst="rect">
            <a:avLst/>
          </a:prstGeom>
          <a:solidFill>
            <a:srgbClr val="0A3D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4343400" y="1600200"/>
            <a:ext cx="3291840" cy="109728"/>
          </a:xfrm>
          <a:prstGeom prst="rect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434840" y="173736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0C4D8"/>
                </a:solidFill>
              </a:rPr>
              <a:t>Task 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34840" y="2011680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4A261"/>
                </a:solidFill>
              </a:rPr>
              <a:t>TRANSFORM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434840" y="2468880"/>
            <a:ext cx="3108960" cy="320040"/>
          </a:xfrm>
          <a:prstGeom prst="rect">
            <a:avLst/>
          </a:prstGeom>
          <a:solidFill>
            <a:srgbClr val="073B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434840" y="2487168"/>
            <a:ext cx="31089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90E0EF"/>
                </a:solidFill>
              </a:rPr>
              <a:t>transform()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80560" y="288036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0F4F8"/>
                </a:solidFill>
              </a:rPr>
              <a:t>→  Pulls raw data from XCom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80560" y="3282696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0F4F8"/>
                </a:solidFill>
              </a:rPr>
              <a:t>→  Standardises column names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80560" y="3685032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0F4F8"/>
                </a:solidFill>
              </a:rPr>
              <a:t>→  Removes duplicates &amp; nulls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480560" y="4087368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0F4F8"/>
                </a:solidFill>
              </a:rPr>
              <a:t>→  Validates dates &amp; prices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480560" y="4489704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0F4F8"/>
                </a:solidFill>
              </a:rPr>
              <a:t>→  Pushes clean JSON to XCom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680960" y="329184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02C39A"/>
                </a:solidFill>
              </a:rPr>
              <a:t>▶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138160" y="1600200"/>
            <a:ext cx="3291840" cy="3931920"/>
          </a:xfrm>
          <a:prstGeom prst="rect">
            <a:avLst/>
          </a:prstGeom>
          <a:solidFill>
            <a:srgbClr val="0A3D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8138160" y="1600200"/>
            <a:ext cx="3291840" cy="10972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8229600" y="173736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0C4D8"/>
                </a:solidFill>
              </a:rPr>
              <a:t>Task 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29600" y="2011680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0B4D8"/>
                </a:solidFill>
              </a:rPr>
              <a:t>LOAD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229600" y="2468880"/>
            <a:ext cx="3108960" cy="320040"/>
          </a:xfrm>
          <a:prstGeom prst="rect">
            <a:avLst/>
          </a:prstGeom>
          <a:solidFill>
            <a:srgbClr val="073B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8229600" y="2487168"/>
            <a:ext cx="31089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90E0EF"/>
                </a:solidFill>
              </a:rPr>
              <a:t>load()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275320" y="288036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0F4F8"/>
                </a:solidFill>
              </a:rPr>
              <a:t>→  Pulls clean data from XCom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275320" y="3282696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0F4F8"/>
                </a:solidFill>
              </a:rPr>
              <a:t>→  Connects via host.docker.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275320" y="3685032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0F4F8"/>
                </a:solidFill>
              </a:rPr>
              <a:t>→  internal to Windows PostgreSQL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275320" y="4087368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0F4F8"/>
                </a:solidFill>
              </a:rPr>
              <a:t>→  Loads to wfp_food_prices_clean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275320" y="4489704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0F4F8"/>
                </a:solidFill>
              </a:rPr>
              <a:t>→  Replaces table on each run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48640" y="5760720"/>
            <a:ext cx="11064240" cy="502920"/>
          </a:xfrm>
          <a:prstGeom prst="rect">
            <a:avLst/>
          </a:prstGeom>
          <a:solidFill>
            <a:srgbClr val="0A3D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731520" y="5833872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B0C4D8"/>
                </a:solidFill>
              </a:rPr>
              <a:t>⏰  Schedule: @daily   |   🔁  Retries: 1   |   ⏱  Retry delay: 5 min   |   📦  Executor: CeleryExecutor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2A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90E0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320040" y="0"/>
            <a:ext cx="11868912" cy="73152"/>
          </a:xfrm>
          <a:prstGeom prst="rect">
            <a:avLst/>
          </a:prstGeom>
          <a:solidFill>
            <a:srgbClr val="90E0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90E0EF"/>
                </a:solidFill>
              </a:rPr>
              <a:t>DATA TRANSFORMATION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5720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dbt Models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0972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0C4D8"/>
                </a:solidFill>
              </a:rPr>
              <a:t>Staging layer + 5 analytics models built on top of wfp_food_prices_clean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600200"/>
            <a:ext cx="3657600" cy="1828800"/>
          </a:xfrm>
          <a:prstGeom prst="rect">
            <a:avLst/>
          </a:prstGeom>
          <a:solidFill>
            <a:srgbClr val="0A3D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169164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90E0EF"/>
                </a:solidFill>
              </a:rPr>
              <a:t>STAGING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196596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stg_food_prices.sql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377440"/>
            <a:ext cx="3200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B0C4D8"/>
                </a:solidFill>
              </a:rPr>
              <a:t>→  Selects &amp; renames columns</a:t>
            </a:r>
          </a:p>
          <a:p>
            <a:pPr algn="l"/>
            <a:r>
              <a:rPr sz="1000" b="0">
                <a:solidFill>
                  <a:srgbClr val="B0C4D8"/>
                </a:solidFill>
              </a:rPr>
              <a:t>→  Casts price to numeric</a:t>
            </a:r>
          </a:p>
          <a:p>
            <a:pPr algn="l"/>
            <a:r>
              <a:rPr sz="1000" b="0">
                <a:solidFill>
                  <a:srgbClr val="B0C4D8"/>
                </a:solidFill>
              </a:rPr>
              <a:t>→  Extracts year &amp; month</a:t>
            </a:r>
          </a:p>
          <a:p>
            <a:pPr algn="l"/>
            <a:r>
              <a:rPr sz="1000" b="0">
                <a:solidFill>
                  <a:srgbClr val="B0C4D8"/>
                </a:solidFill>
              </a:rPr>
              <a:t>→  Source: wfp_food_prices_clean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03120" y="352044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90E0EF"/>
                </a:solidFill>
              </a:rPr>
              <a:t>▼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4114800"/>
            <a:ext cx="2148840" cy="2423160"/>
          </a:xfrm>
          <a:prstGeom prst="rect">
            <a:avLst/>
          </a:prstGeom>
          <a:solidFill>
            <a:srgbClr val="0A3D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548640" y="4114800"/>
            <a:ext cx="2148840" cy="91440"/>
          </a:xfrm>
          <a:prstGeom prst="rect">
            <a:avLst/>
          </a:prstGeom>
          <a:solidFill>
            <a:srgbClr val="90E0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40080" y="4251960"/>
            <a:ext cx="1965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FFFFF"/>
                </a:solidFill>
              </a:rPr>
              <a:t>average_price_by_county
_and_year.sql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5029200"/>
            <a:ext cx="1965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0C4D8"/>
                </a:solidFill>
              </a:rPr>
              <a:t>AVG price grouped by
county and year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" y="5760720"/>
            <a:ext cx="1965960" cy="274320"/>
          </a:xfrm>
          <a:prstGeom prst="rect">
            <a:avLst/>
          </a:prstGeom>
          <a:solidFill>
            <a:srgbClr val="073B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40080" y="5769864"/>
            <a:ext cx="1965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90E0EF"/>
                </a:solidFill>
              </a:rPr>
              <a:t>Bar Chart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88920" y="4114800"/>
            <a:ext cx="2148840" cy="2423160"/>
          </a:xfrm>
          <a:prstGeom prst="rect">
            <a:avLst/>
          </a:prstGeom>
          <a:solidFill>
            <a:srgbClr val="0A3D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2788920" y="4114800"/>
            <a:ext cx="2148840" cy="91440"/>
          </a:xfrm>
          <a:prstGeom prst="rect">
            <a:avLst/>
          </a:prstGeom>
          <a:solidFill>
            <a:srgbClr val="90E0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2880360" y="4251960"/>
            <a:ext cx="1965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FFFFF"/>
                </a:solidFill>
              </a:rPr>
              <a:t>average_price_per
_commodity.sql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880360" y="5029200"/>
            <a:ext cx="1965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0C4D8"/>
                </a:solidFill>
              </a:rPr>
              <a:t>AVG price per
commodity type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880360" y="5760720"/>
            <a:ext cx="1965960" cy="274320"/>
          </a:xfrm>
          <a:prstGeom prst="rect">
            <a:avLst/>
          </a:prstGeom>
          <a:solidFill>
            <a:srgbClr val="073B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2880360" y="5769864"/>
            <a:ext cx="1965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90E0EF"/>
                </a:solidFill>
              </a:rPr>
              <a:t>Bar Chart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029200" y="4114800"/>
            <a:ext cx="2148840" cy="2423160"/>
          </a:xfrm>
          <a:prstGeom prst="rect">
            <a:avLst/>
          </a:prstGeom>
          <a:solidFill>
            <a:srgbClr val="0A3D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5029200" y="4114800"/>
            <a:ext cx="2148840" cy="91440"/>
          </a:xfrm>
          <a:prstGeom prst="rect">
            <a:avLst/>
          </a:prstGeom>
          <a:solidFill>
            <a:srgbClr val="90E0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5120640" y="4251960"/>
            <a:ext cx="1965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FFFFF"/>
                </a:solidFill>
              </a:rPr>
              <a:t>commodities_sold_in
_more_than_10_markets.sql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120640" y="5029200"/>
            <a:ext cx="1965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0C4D8"/>
                </a:solidFill>
              </a:rPr>
              <a:t>Commodities with wide
market reach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120640" y="5760720"/>
            <a:ext cx="1965960" cy="274320"/>
          </a:xfrm>
          <a:prstGeom prst="rect">
            <a:avLst/>
          </a:prstGeom>
          <a:solidFill>
            <a:srgbClr val="073B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5120640" y="5769864"/>
            <a:ext cx="1965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90E0EF"/>
                </a:solidFill>
              </a:rPr>
              <a:t>Row Chart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269480" y="4114800"/>
            <a:ext cx="2148840" cy="2423160"/>
          </a:xfrm>
          <a:prstGeom prst="rect">
            <a:avLst/>
          </a:prstGeom>
          <a:solidFill>
            <a:srgbClr val="0A3D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7269480" y="4114800"/>
            <a:ext cx="2148840" cy="91440"/>
          </a:xfrm>
          <a:prstGeom prst="rect">
            <a:avLst/>
          </a:prstGeom>
          <a:solidFill>
            <a:srgbClr val="90E0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7360920" y="4251960"/>
            <a:ext cx="1965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FFFFF"/>
                </a:solidFill>
              </a:rPr>
              <a:t>highest_and_lowest_price
_per_commodity.sql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60920" y="5029200"/>
            <a:ext cx="1965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0C4D8"/>
                </a:solidFill>
              </a:rPr>
              <a:t>Price range (MAX &amp; MIN)
per commodity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360920" y="5760720"/>
            <a:ext cx="1965960" cy="274320"/>
          </a:xfrm>
          <a:prstGeom prst="rect">
            <a:avLst/>
          </a:prstGeom>
          <a:solidFill>
            <a:srgbClr val="073B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7360920" y="5769864"/>
            <a:ext cx="1965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90E0EF"/>
                </a:solidFill>
              </a:rPr>
              <a:t>Row Chart</a:t>
            </a:r>
          </a:p>
        </p:txBody>
      </p:sp>
      <p:sp>
        <p:nvSpPr>
          <p:cNvPr id="36" name="Rectangle 35"/>
          <p:cNvSpPr/>
          <p:nvPr/>
        </p:nvSpPr>
        <p:spPr>
          <a:xfrm>
            <a:off x="9509760" y="4114800"/>
            <a:ext cx="2148840" cy="2423160"/>
          </a:xfrm>
          <a:prstGeom prst="rect">
            <a:avLst/>
          </a:prstGeom>
          <a:solidFill>
            <a:srgbClr val="0A3D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9509760" y="4114800"/>
            <a:ext cx="2148840" cy="91440"/>
          </a:xfrm>
          <a:prstGeom prst="rect">
            <a:avLst/>
          </a:prstGeom>
          <a:solidFill>
            <a:srgbClr val="90E0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9601200" y="4251960"/>
            <a:ext cx="1965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FFFFF"/>
                </a:solidFill>
              </a:rPr>
              <a:t>monthly_average
_prices.sql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601200" y="5029200"/>
            <a:ext cx="1965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0C4D8"/>
                </a:solidFill>
              </a:rPr>
              <a:t>Monthly price trend
over time</a:t>
            </a:r>
          </a:p>
        </p:txBody>
      </p:sp>
      <p:sp>
        <p:nvSpPr>
          <p:cNvPr id="40" name="Rectangle 39"/>
          <p:cNvSpPr/>
          <p:nvPr/>
        </p:nvSpPr>
        <p:spPr>
          <a:xfrm>
            <a:off x="9601200" y="5760720"/>
            <a:ext cx="1965960" cy="274320"/>
          </a:xfrm>
          <a:prstGeom prst="rect">
            <a:avLst/>
          </a:prstGeom>
          <a:solidFill>
            <a:srgbClr val="073B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9601200" y="5769864"/>
            <a:ext cx="1965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90E0EF"/>
                </a:solidFill>
              </a:rPr>
              <a:t>Line Chart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48640" y="3977639"/>
            <a:ext cx="11064240" cy="73152"/>
          </a:xfrm>
          <a:prstGeom prst="rect">
            <a:avLst/>
          </a:prstGeom>
          <a:solidFill>
            <a:srgbClr val="90E0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4114800" y="1664208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90E0EF"/>
                </a:solidFill>
              </a:rPr>
              <a:t>ANALYTICS MODELS (marts/analytics/)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389120" y="1600200"/>
            <a:ext cx="7223760" cy="2286000"/>
          </a:xfrm>
          <a:prstGeom prst="rect">
            <a:avLst/>
          </a:prstGeom>
          <a:solidFill>
            <a:srgbClr val="0A3D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4526280" y="1737360"/>
            <a:ext cx="6949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C4D8"/>
                </a:solidFill>
              </a:rPr>
              <a:t>All models reference stg_food_prices via {{ ref('stg_food_prices') }}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526280" y="2103120"/>
            <a:ext cx="6949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90E0EF"/>
                </a:solidFill>
              </a:rPr>
              <a:t>Run with:  dbt run   |   Test with:  dbt test   |   Docs:  dbt docs serve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526280" y="2468880"/>
            <a:ext cx="6949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0F4F8"/>
                </a:solidFill>
              </a:rPr>
              <a:t>Output: Creates SQL views in PostgreSQL — queryable directly in Metabase &amp; Grafana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526280" y="2834640"/>
            <a:ext cx="6949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C4D8"/>
                </a:solidFill>
              </a:rPr>
              <a:t>Virtual env: dbt_venv\Scripts\Activate.ps1  →  dbt run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2A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F72B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320040" y="0"/>
            <a:ext cx="11868912" cy="73152"/>
          </a:xfrm>
          <a:prstGeom prst="rect">
            <a:avLst/>
          </a:prstGeom>
          <a:solidFill>
            <a:srgbClr val="F72B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72B85"/>
                </a:solidFill>
              </a:rPr>
              <a:t>VISUALIZATION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5720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Dashboards &amp; Insights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280160"/>
            <a:ext cx="5303520" cy="4937760"/>
          </a:xfrm>
          <a:prstGeom prst="rect">
            <a:avLst/>
          </a:prstGeom>
          <a:solidFill>
            <a:srgbClr val="0A3D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48640" y="1280160"/>
            <a:ext cx="5303520" cy="109728"/>
          </a:xfrm>
          <a:prstGeom prst="rect">
            <a:avLst/>
          </a:prstGeom>
          <a:solidFill>
            <a:srgbClr val="F72B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141732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72B85"/>
                </a:solidFill>
              </a:rPr>
              <a:t>METABASE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1828800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C4D8"/>
                </a:solidFill>
              </a:rPr>
              <a:t>http://localhost:3001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194560"/>
            <a:ext cx="48463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0F4F8"/>
                </a:solidFill>
              </a:rPr>
              <a:t>Business intelligence &amp; self-service dashboards</a:t>
            </a:r>
          </a:p>
          <a:p>
            <a:pPr algn="l"/>
            <a:r>
              <a:rPr sz="1100" b="0">
                <a:solidFill>
                  <a:srgbClr val="F0F4F8"/>
                </a:solidFill>
              </a:rPr>
              <a:t>Connects directly to wfp_foods PostgreSQL via</a:t>
            </a:r>
          </a:p>
          <a:p>
            <a:pPr algn="l"/>
            <a:r>
              <a:rPr sz="1100" b="0">
                <a:solidFill>
                  <a:srgbClr val="F0F4F8"/>
                </a:solidFill>
              </a:rPr>
              <a:t>  host.docker.internal</a:t>
            </a:r>
          </a:p>
          <a:p>
            <a:pPr algn="l"/>
            <a:r>
              <a:rPr sz="1100" b="0">
                <a:solidFill>
                  <a:srgbClr val="F0F4F8"/>
                </a:solidFill>
              </a:rPr>
              <a:t>SQL editor for custom queries</a:t>
            </a:r>
          </a:p>
          <a:p>
            <a:pPr algn="l"/>
            <a:endParaRPr sz="1100" b="0">
              <a:solidFill>
                <a:srgbClr val="F0F4F8"/>
              </a:solidFill>
            </a:endParaRPr>
          </a:p>
          <a:p>
            <a:pPr algn="l"/>
            <a:r>
              <a:rPr sz="1100" b="0">
                <a:solidFill>
                  <a:srgbClr val="F0F4F8"/>
                </a:solidFill>
              </a:rPr>
              <a:t>Charts built:</a:t>
            </a:r>
          </a:p>
          <a:p>
            <a:pPr algn="l"/>
            <a:r>
              <a:rPr sz="1100" b="0">
                <a:solidFill>
                  <a:srgbClr val="F0F4F8"/>
                </a:solidFill>
              </a:rPr>
              <a:t>→  Bar: Avg Price by County &amp; Year</a:t>
            </a:r>
          </a:p>
          <a:p>
            <a:pPr algn="l"/>
            <a:r>
              <a:rPr sz="1100" b="0">
                <a:solidFill>
                  <a:srgbClr val="F0F4F8"/>
                </a:solidFill>
              </a:rPr>
              <a:t>→  Bar: Avg Price per Commodity</a:t>
            </a:r>
          </a:p>
          <a:p>
            <a:pPr algn="l"/>
            <a:r>
              <a:rPr sz="1100" b="0">
                <a:solidFill>
                  <a:srgbClr val="F0F4F8"/>
                </a:solidFill>
              </a:rPr>
              <a:t>→  Row: Highest &amp; Lowest Prices</a:t>
            </a:r>
          </a:p>
          <a:p>
            <a:pPr algn="l"/>
            <a:r>
              <a:rPr sz="1100" b="0">
                <a:solidFill>
                  <a:srgbClr val="F0F4F8"/>
                </a:solidFill>
              </a:rPr>
              <a:t>→  Row: Commodities in 10+ Markets</a:t>
            </a:r>
          </a:p>
          <a:p>
            <a:pPr algn="l"/>
            <a:r>
              <a:rPr sz="1100" b="0">
                <a:solidFill>
                  <a:srgbClr val="F0F4F8"/>
                </a:solidFill>
              </a:rPr>
              <a:t>→  Line: Monthly Average Prices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2A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320040" y="0"/>
            <a:ext cx="11868912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B4D8"/>
                </a:solidFill>
              </a:rPr>
              <a:t>INFRASTRUCTURE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5720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Docker Services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234440"/>
            <a:ext cx="9784080" cy="38404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2286000" cy="2926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62A40"/>
                </a:solidFill>
              </a:rPr>
              <a:t>Service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0" y="1280160"/>
            <a:ext cx="2743200" cy="2926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62A40"/>
                </a:solidFill>
              </a:rPr>
              <a:t>Container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79" y="1280160"/>
            <a:ext cx="914400" cy="2926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62A40"/>
                </a:solidFill>
              </a:rPr>
              <a:t>Port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79" y="1280160"/>
            <a:ext cx="3291840" cy="2926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62A40"/>
                </a:solidFill>
              </a:rPr>
              <a:t>Purpose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1618488"/>
            <a:ext cx="9784080" cy="384048"/>
          </a:xfrm>
          <a:prstGeom prst="rect">
            <a:avLst/>
          </a:prstGeom>
          <a:solidFill>
            <a:srgbClr val="0A3D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0080" y="1673352"/>
            <a:ext cx="2286000" cy="2926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0F4F8"/>
                </a:solidFill>
              </a:rPr>
              <a:t>PostgreSQL 17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26080" y="1673352"/>
            <a:ext cx="2743200" cy="2926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0F4F8"/>
                </a:solidFill>
              </a:rPr>
              <a:t>wfp_airflow_postgres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79" y="1673352"/>
            <a:ext cx="914400" cy="2926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B4D8"/>
                </a:solidFill>
              </a:rPr>
              <a:t>5432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79" y="1673352"/>
            <a:ext cx="3291840" cy="2926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0F4F8"/>
                </a:solidFill>
              </a:rPr>
              <a:t>Airflow metadata DB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2002536"/>
            <a:ext cx="9784080" cy="384048"/>
          </a:xfrm>
          <a:prstGeom prst="rect">
            <a:avLst/>
          </a:prstGeom>
          <a:solidFill>
            <a:srgbClr val="073B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40080" y="2057400"/>
            <a:ext cx="2286000" cy="2926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0F4F8"/>
                </a:solidFill>
              </a:rPr>
              <a:t>Redis 7.2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926080" y="2057400"/>
            <a:ext cx="2743200" cy="2926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0F4F8"/>
                </a:solidFill>
              </a:rPr>
              <a:t>wfp_redis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69279" y="2057400"/>
            <a:ext cx="914400" cy="2926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0F4F8"/>
                </a:solidFill>
              </a:rPr>
              <a:t>—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79" y="2057400"/>
            <a:ext cx="3291840" cy="2926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0F4F8"/>
                </a:solidFill>
              </a:rPr>
              <a:t>Celery message broker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" y="2386584"/>
            <a:ext cx="9784080" cy="384048"/>
          </a:xfrm>
          <a:prstGeom prst="rect">
            <a:avLst/>
          </a:prstGeom>
          <a:solidFill>
            <a:srgbClr val="0A3D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40080" y="2441448"/>
            <a:ext cx="2286000" cy="2926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0F4F8"/>
                </a:solidFill>
              </a:rPr>
              <a:t>Airflow Webserver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926080" y="2441448"/>
            <a:ext cx="2743200" cy="2926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0F4F8"/>
                </a:solidFill>
              </a:rPr>
              <a:t>wfp_airflow_webserver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669279" y="2441448"/>
            <a:ext cx="914400" cy="2926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B4D8"/>
                </a:solidFill>
              </a:rPr>
              <a:t>8080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83679" y="2441448"/>
            <a:ext cx="3291840" cy="2926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0F4F8"/>
                </a:solidFill>
              </a:rPr>
              <a:t>UI &amp; API server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8640" y="2770632"/>
            <a:ext cx="9784080" cy="384048"/>
          </a:xfrm>
          <a:prstGeom prst="rect">
            <a:avLst/>
          </a:prstGeom>
          <a:solidFill>
            <a:srgbClr val="073B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40080" y="2825496"/>
            <a:ext cx="2286000" cy="2926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0F4F8"/>
                </a:solidFill>
              </a:rPr>
              <a:t>Airflow Scheduler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926080" y="2825496"/>
            <a:ext cx="2743200" cy="2926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0F4F8"/>
                </a:solidFill>
              </a:rPr>
              <a:t>wfp_airflow_scheduler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669279" y="2825496"/>
            <a:ext cx="914400" cy="2926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0F4F8"/>
                </a:solidFill>
              </a:rPr>
              <a:t>—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83679" y="2825496"/>
            <a:ext cx="3291840" cy="2926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0F4F8"/>
                </a:solidFill>
              </a:rPr>
              <a:t>DAG run trigger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48640" y="3154680"/>
            <a:ext cx="9784080" cy="384048"/>
          </a:xfrm>
          <a:prstGeom prst="rect">
            <a:avLst/>
          </a:prstGeom>
          <a:solidFill>
            <a:srgbClr val="0A3D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40080" y="3209544"/>
            <a:ext cx="2286000" cy="2926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0F4F8"/>
                </a:solidFill>
              </a:rPr>
              <a:t>Airflow Worker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926080" y="3209544"/>
            <a:ext cx="2743200" cy="2926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0F4F8"/>
                </a:solidFill>
              </a:rPr>
              <a:t>wfp_airflow_worker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669279" y="3209544"/>
            <a:ext cx="914400" cy="2926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0F4F8"/>
                </a:solidFill>
              </a:rPr>
              <a:t>—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83679" y="3209544"/>
            <a:ext cx="3291840" cy="2926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0F4F8"/>
                </a:solidFill>
              </a:rPr>
              <a:t>Task execution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48640" y="3538728"/>
            <a:ext cx="9784080" cy="384048"/>
          </a:xfrm>
          <a:prstGeom prst="rect">
            <a:avLst/>
          </a:prstGeom>
          <a:solidFill>
            <a:srgbClr val="073B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640080" y="3593592"/>
            <a:ext cx="2286000" cy="2926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0F4F8"/>
                </a:solidFill>
              </a:rPr>
              <a:t>Airflow DAG Processor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926080" y="3593592"/>
            <a:ext cx="2743200" cy="2926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0F4F8"/>
                </a:solidFill>
              </a:rPr>
              <a:t>wfp_airflow_dag_processor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669279" y="3593592"/>
            <a:ext cx="914400" cy="2926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0F4F8"/>
                </a:solidFill>
              </a:rPr>
              <a:t>—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583679" y="3593592"/>
            <a:ext cx="3291840" cy="2926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0F4F8"/>
                </a:solidFill>
              </a:rPr>
              <a:t>DAG file parser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48640" y="3922776"/>
            <a:ext cx="9784080" cy="384048"/>
          </a:xfrm>
          <a:prstGeom prst="rect">
            <a:avLst/>
          </a:prstGeom>
          <a:solidFill>
            <a:srgbClr val="0A3D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640080" y="3977639"/>
            <a:ext cx="2286000" cy="2926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0F4F8"/>
                </a:solidFill>
              </a:rPr>
              <a:t>Airflow Triggerer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926080" y="3977639"/>
            <a:ext cx="2743200" cy="2926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0F4F8"/>
                </a:solidFill>
              </a:rPr>
              <a:t>wfp_airflow_triggerer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669279" y="3977639"/>
            <a:ext cx="914400" cy="2926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0F4F8"/>
                </a:solidFill>
              </a:rPr>
              <a:t>—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583679" y="3977639"/>
            <a:ext cx="3291840" cy="2926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0F4F8"/>
                </a:solidFill>
              </a:rPr>
              <a:t>Async task handling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48640" y="4306824"/>
            <a:ext cx="9784080" cy="384048"/>
          </a:xfrm>
          <a:prstGeom prst="rect">
            <a:avLst/>
          </a:prstGeom>
          <a:solidFill>
            <a:srgbClr val="073B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640080" y="4361688"/>
            <a:ext cx="2286000" cy="2926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0F4F8"/>
                </a:solidFill>
              </a:rPr>
              <a:t>Grafana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2926080" y="4361688"/>
            <a:ext cx="2743200" cy="2926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0F4F8"/>
                </a:solidFill>
              </a:rPr>
              <a:t>wfp_grafana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669279" y="4361688"/>
            <a:ext cx="914400" cy="2926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 dirty="0">
                <a:solidFill>
                  <a:srgbClr val="00B4D8"/>
                </a:solidFill>
              </a:rPr>
              <a:t>3000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583679" y="4361688"/>
            <a:ext cx="3291840" cy="2926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0F4F8"/>
                </a:solidFill>
              </a:rPr>
              <a:t>Visualization</a:t>
            </a:r>
          </a:p>
        </p:txBody>
      </p:sp>
      <p:sp>
        <p:nvSpPr>
          <p:cNvPr id="51" name="Rectangle 50"/>
          <p:cNvSpPr/>
          <p:nvPr/>
        </p:nvSpPr>
        <p:spPr>
          <a:xfrm>
            <a:off x="548640" y="4690872"/>
            <a:ext cx="9784080" cy="384048"/>
          </a:xfrm>
          <a:prstGeom prst="rect">
            <a:avLst/>
          </a:prstGeom>
          <a:solidFill>
            <a:srgbClr val="0A3D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640080" y="4745736"/>
            <a:ext cx="2286000" cy="2926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0F4F8"/>
                </a:solidFill>
              </a:rPr>
              <a:t>Metabase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2926080" y="4745736"/>
            <a:ext cx="2743200" cy="2926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0F4F8"/>
                </a:solidFill>
              </a:rPr>
              <a:t>wfp_metabase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669279" y="4745736"/>
            <a:ext cx="914400" cy="2926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B4D8"/>
                </a:solidFill>
              </a:rPr>
              <a:t>3001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583679" y="4745736"/>
            <a:ext cx="3291840" cy="2926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0F4F8"/>
                </a:solidFill>
              </a:rPr>
              <a:t>BI dashboards</a:t>
            </a:r>
          </a:p>
        </p:txBody>
      </p:sp>
      <p:sp>
        <p:nvSpPr>
          <p:cNvPr id="56" name="Rectangle 55"/>
          <p:cNvSpPr/>
          <p:nvPr/>
        </p:nvSpPr>
        <p:spPr>
          <a:xfrm>
            <a:off x="548640" y="5074920"/>
            <a:ext cx="9784080" cy="384048"/>
          </a:xfrm>
          <a:prstGeom prst="rect">
            <a:avLst/>
          </a:prstGeom>
          <a:solidFill>
            <a:srgbClr val="073B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640080" y="5129783"/>
            <a:ext cx="2286000" cy="2926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0F4F8"/>
                </a:solidFill>
              </a:rPr>
              <a:t>Metabase internal DB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2926080" y="5129783"/>
            <a:ext cx="2743200" cy="2926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0F4F8"/>
                </a:solidFill>
              </a:rPr>
              <a:t>metabase_internal_db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5669279" y="5129783"/>
            <a:ext cx="914400" cy="2926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B4D8"/>
                </a:solidFill>
              </a:rPr>
              <a:t>5434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583679" y="5129783"/>
            <a:ext cx="3291840" cy="2926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0F4F8"/>
                </a:solidFill>
              </a:rPr>
              <a:t>Metabase config store</a:t>
            </a:r>
          </a:p>
        </p:txBody>
      </p:sp>
      <p:sp>
        <p:nvSpPr>
          <p:cNvPr id="61" name="Rectangle 60"/>
          <p:cNvSpPr/>
          <p:nvPr/>
        </p:nvSpPr>
        <p:spPr>
          <a:xfrm>
            <a:off x="548640" y="5577840"/>
            <a:ext cx="11064240" cy="594360"/>
          </a:xfrm>
          <a:prstGeom prst="rect">
            <a:avLst/>
          </a:prstGeom>
          <a:solidFill>
            <a:srgbClr val="0A3D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731520" y="5669280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B4D8"/>
                </a:solidFill>
              </a:rPr>
              <a:t>docker-compose up -d   |   docker-compose -f docker-compose.metabase.yaml up -d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2A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320040" y="0"/>
            <a:ext cx="11868912" cy="73152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2C39A"/>
                </a:solidFill>
              </a:rPr>
              <a:t>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5720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Key Takeaways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371600"/>
            <a:ext cx="5303520" cy="1371600"/>
          </a:xfrm>
          <a:prstGeom prst="rect">
            <a:avLst/>
          </a:prstGeom>
          <a:solidFill>
            <a:srgbClr val="0A3D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85800" y="146304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FFFFFF"/>
                </a:solidFill>
              </a:rPr>
              <a:t>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25880" y="1508760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2C39A"/>
                </a:solidFill>
              </a:rPr>
              <a:t>Full ETL Pipeline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25880" y="1920240"/>
            <a:ext cx="4389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C4D8"/>
                </a:solidFill>
              </a:rPr>
              <a:t>Raw CSV → cleaned data → PostgreSQL → dbt models → dashboards, fully automated by Airflow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09359" y="1371600"/>
            <a:ext cx="5303520" cy="1371600"/>
          </a:xfrm>
          <a:prstGeom prst="rect">
            <a:avLst/>
          </a:prstGeom>
          <a:solidFill>
            <a:srgbClr val="0A3D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46520" y="146304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FFFFFF"/>
                </a:solidFill>
              </a:rPr>
              <a:t>📦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86599" y="1508760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2C39A"/>
                </a:solidFill>
              </a:rPr>
              <a:t>Containerised Stack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86599" y="1920240"/>
            <a:ext cx="4389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C4D8"/>
                </a:solidFill>
              </a:rPr>
              <a:t>All services run in Docker: Airflow, Redis, PostgreSQL, Metabase and Grafana — no local installs needed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2926080"/>
            <a:ext cx="5303520" cy="1371600"/>
          </a:xfrm>
          <a:prstGeom prst="rect">
            <a:avLst/>
          </a:prstGeom>
          <a:solidFill>
            <a:srgbClr val="0A3D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85800" y="301752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FFFFFF"/>
                </a:solidFill>
              </a:rPr>
              <a:t>🔧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25880" y="3063240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2C39A"/>
                </a:solidFill>
              </a:rPr>
              <a:t>dbt Transformation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25880" y="3474720"/>
            <a:ext cx="4389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C4D8"/>
                </a:solidFill>
              </a:rPr>
              <a:t>5 analytics models built on a staging layer, creating reusable SQL views for all downstream consumers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09359" y="2926080"/>
            <a:ext cx="5303520" cy="1371600"/>
          </a:xfrm>
          <a:prstGeom prst="rect">
            <a:avLst/>
          </a:prstGeom>
          <a:solidFill>
            <a:srgbClr val="0A3D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446520" y="301752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FFFFFF"/>
                </a:solidFill>
              </a:rPr>
              <a:t>📊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86599" y="3063240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2C39A"/>
                </a:solidFill>
              </a:rPr>
              <a:t>Dual Visualization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86599" y="3474720"/>
            <a:ext cx="438912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 dirty="0" err="1">
                <a:solidFill>
                  <a:srgbClr val="B0C4D8"/>
                </a:solidFill>
              </a:rPr>
              <a:t>Metabase</a:t>
            </a:r>
            <a:r>
              <a:rPr sz="1000" b="0" i="0" dirty="0">
                <a:solidFill>
                  <a:srgbClr val="B0C4D8"/>
                </a:solidFill>
              </a:rPr>
              <a:t> for business dashboards (SQL editor + chart builder</a:t>
            </a:r>
            <a:r>
              <a:rPr sz="1000" b="0" i="0" dirty="0" smtClean="0">
                <a:solidFill>
                  <a:srgbClr val="B0C4D8"/>
                </a:solidFill>
              </a:rPr>
              <a:t>)</a:t>
            </a:r>
            <a:endParaRPr sz="1000" b="0" i="0" dirty="0">
              <a:solidFill>
                <a:srgbClr val="B0C4D8"/>
              </a:solidFill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548640" y="4480560"/>
            <a:ext cx="5303520" cy="1371600"/>
          </a:xfrm>
          <a:prstGeom prst="rect">
            <a:avLst/>
          </a:prstGeom>
          <a:solidFill>
            <a:srgbClr val="0A3D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85800" y="457200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FFFFFF"/>
                </a:solidFill>
              </a:rPr>
              <a:t>🌍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25880" y="4617720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2C39A"/>
                </a:solidFill>
              </a:rPr>
              <a:t>Real-World Data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25880" y="5029200"/>
            <a:ext cx="4389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C4D8"/>
                </a:solidFill>
              </a:rPr>
              <a:t>17,632 WFP Kenya food price records spanning 2006 to present — answering real food security questions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309359" y="4480560"/>
            <a:ext cx="5303520" cy="1371600"/>
          </a:xfrm>
          <a:prstGeom prst="rect">
            <a:avLst/>
          </a:prstGeom>
          <a:solidFill>
            <a:srgbClr val="0A3D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446520" y="457200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FFFFFF"/>
                </a:solidFill>
              </a:rPr>
              <a:t>⚙️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086599" y="4617720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2C39A"/>
                </a:solidFill>
              </a:rPr>
              <a:t>Production Patterns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086599" y="5029200"/>
            <a:ext cx="4389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C4D8"/>
                </a:solidFill>
              </a:rPr>
              <a:t>Uses XCom for inter-task data passing, CeleryExecutor for parallel tasks, and host.docker.internal for local DB access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" y="63093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B0C4D8"/>
                </a:solidFill>
              </a:rPr>
              <a:t>Built as part of EverythingData Cohort 5 — Data Engineering Programme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774</TotalTime>
  <Words>915</Words>
  <Application>Microsoft Office PowerPoint</Application>
  <PresentationFormat>Custom</PresentationFormat>
  <Paragraphs>247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keywords/>
  <dc:description>generated using python-pptx</dc:description>
  <cp:lastModifiedBy>ASUS</cp:lastModifiedBy>
  <cp:revision>3</cp:revision>
  <dcterms:created xsi:type="dcterms:W3CDTF">2013-01-27T09:14:16Z</dcterms:created>
  <dcterms:modified xsi:type="dcterms:W3CDTF">2026-04-01T05:50:48Z</dcterms:modified>
  <cp:category/>
</cp:coreProperties>
</file>